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54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TCV CORE - DATABASE ARCHITECTURE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Purchase, Quotation &amp; Sales Management System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2.0 | Database Schema &amp; Architecture Diagram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D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2026-06-07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Structure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Tables: 22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Relationships: 50+ Foreign Keys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Indexes: 80+ for Performance Optimization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Focus: Normalization (3NF Compliance)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Engine: MySQL 8.0+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Set: UTF8MB4 Unicode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Engine: InnoDB (ACID Compliance)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4572000"/>
            <a:ext cx="10058400" cy="1828800"/>
          </a:xfrm>
          <a:prstGeom prst="rect">
            <a:avLst/>
          </a:prstGeom>
          <a:solidFill>
            <a:srgbClr val="D9E8F5"/>
          </a:solidFill>
          <a:ln w="25400">
            <a:solidFill>
              <a:srgbClr val="2F54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754880"/>
            <a:ext cx="9692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Categories: Master (7) | Transactional (10) | Audit &amp; Support (5)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Entities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280160" cy="640080"/>
          </a:xfrm>
          <a:prstGeom prst="rect">
            <a:avLst/>
          </a:prstGeom>
          <a:solidFill>
            <a:srgbClr val="4472C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0" y="1371600"/>
            <a:ext cx="1280160" cy="640080"/>
          </a:xfrm>
          <a:prstGeom prst="rect">
            <a:avLst/>
          </a:prstGeom>
          <a:solidFill>
            <a:srgbClr val="4472C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13716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1371600"/>
            <a:ext cx="1280160" cy="640080"/>
          </a:xfrm>
          <a:prstGeom prst="rect">
            <a:avLst/>
          </a:prstGeom>
          <a:solidFill>
            <a:srgbClr val="70AD4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3716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20640" y="1371600"/>
            <a:ext cx="1280160" cy="640080"/>
          </a:xfrm>
          <a:prstGeom prst="rect">
            <a:avLst/>
          </a:prstGeom>
          <a:solidFill>
            <a:srgbClr val="70AD4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13716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0" y="1371600"/>
            <a:ext cx="1280160" cy="640080"/>
          </a:xfrm>
          <a:prstGeom prst="rect">
            <a:avLst/>
          </a:prstGeom>
          <a:solidFill>
            <a:srgbClr val="70AD4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3716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1371600"/>
            <a:ext cx="1280160" cy="640080"/>
          </a:xfrm>
          <a:prstGeom prst="rect">
            <a:avLst/>
          </a:prstGeom>
          <a:solidFill>
            <a:srgbClr val="FFC7C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3716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784080" y="1371600"/>
            <a:ext cx="1280160" cy="640080"/>
          </a:xfrm>
          <a:prstGeom prst="rect">
            <a:avLst/>
          </a:prstGeom>
          <a:solidFill>
            <a:srgbClr val="FFC7C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0" y="13716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56032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&amp; Setup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017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Users &amp; Authentication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0" y="3017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Employee Roles &amp; Departments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0" y="3017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Brand &amp; Category Hierarchy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429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 Catalog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89120" y="3429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Supplier Master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0" y="3429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Master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Entities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548640"/>
          </a:xfrm>
          <a:prstGeom prst="rect">
            <a:avLst/>
          </a:prstGeom>
          <a:solidFill>
            <a:srgbClr val="92D05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+ Items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0" y="1097280"/>
            <a:ext cx="2560320" cy="548640"/>
          </a:xfrm>
          <a:prstGeom prst="rect">
            <a:avLst/>
          </a:prstGeom>
          <a:solidFill>
            <a:srgbClr val="92D05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0" y="1097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+ Ledger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0" y="1097280"/>
            <a:ext cx="2560320" cy="548640"/>
          </a:xfrm>
          <a:prstGeom prst="rect">
            <a:avLst/>
          </a:prstGeom>
          <a:solidFill>
            <a:srgbClr val="92D05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1097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2560320" cy="5486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86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+ Items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0" y="2286000"/>
            <a:ext cx="2560320" cy="5486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286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Employees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0" y="2286000"/>
            <a:ext cx="2560320" cy="5486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2286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+ Items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2560320" cy="54864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474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0" y="3474720"/>
            <a:ext cx="2560320" cy="54864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0" y="3474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3474720"/>
            <a:ext cx="2560320" cy="54864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3474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Workflow (Green)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5029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Workflow (Blue)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5486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Workflow (Orange)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 to Sales Data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1554480" cy="1097280"/>
          </a:xfrm>
          <a:prstGeom prst="rect">
            <a:avLst/>
          </a:prstGeom>
          <a:solidFill>
            <a:srgbClr val="92D05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45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QUOTATION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0" y="1645920"/>
            <a:ext cx="1554480" cy="1097280"/>
          </a:xfrm>
          <a:prstGeom prst="rect">
            <a:avLst/>
          </a:prstGeom>
          <a:solidFill>
            <a:srgbClr val="70AD47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0" y="1645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APPROVED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0" y="1645920"/>
            <a:ext cx="1554480" cy="1097280"/>
          </a:xfrm>
          <a:prstGeom prst="rect">
            <a:avLst/>
          </a:prstGeom>
          <a:solidFill>
            <a:srgbClr val="4472C4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1645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WORK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1554480" cy="1097280"/>
          </a:xfrm>
          <a:prstGeom prst="rect">
            <a:avLst/>
          </a:prstGeom>
          <a:solidFill>
            <a:srgbClr val="4472C4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645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ASSIGN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554480" cy="1097280"/>
          </a:xfrm>
          <a:prstGeom prst="rect">
            <a:avLst/>
          </a:prstGeom>
          <a:solidFill>
            <a:srgbClr val="FFC7CE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1645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SALES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875520" y="1645920"/>
            <a:ext cx="1554480" cy="1097280"/>
          </a:xfrm>
          <a:prstGeom prst="rect">
            <a:avLst/>
          </a:prstGeom>
          <a:solidFill>
            <a:srgbClr val="ED7D31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0" y="1645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STOCK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0" y="2194560"/>
            <a:ext cx="9144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114800" y="2194560"/>
            <a:ext cx="9144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43600" y="2194560"/>
            <a:ext cx="9144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72400" y="2194560"/>
            <a:ext cx="9144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01200" y="2194560"/>
            <a:ext cx="9144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731520" y="32004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Tables &amp; References: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3657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quotation_master &amp; quotation_items → Customer requirements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4023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work_orders &amp; work_order_employees → Installation planning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43891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sales_master &amp; sales_items → Invoice generation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4754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stock_ledger → Transaction audit trail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5120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customer_payments → Payment tracking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Management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828800" y="1371600"/>
            <a:ext cx="2743200" cy="1097280"/>
          </a:xfrm>
          <a:prstGeom prst="rect">
            <a:avLst/>
          </a:prstGeom>
          <a:solidFill>
            <a:srgbClr val="92D050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13716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STOCK_MASTER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available_qty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reserved_qty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min/max stock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0" y="1371600"/>
            <a:ext cx="2743200" cy="1097280"/>
          </a:xfrm>
          <a:prstGeom prst="rect">
            <a:avLst/>
          </a:prstGeom>
          <a:solidFill>
            <a:srgbClr val="4472C4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13716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STOCK_LEDGER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Immutable audit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Transaction type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qty_in, qty_out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1920240"/>
            <a:ext cx="27432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303520" y="1737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→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Types in Stock Ledger: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PURCHASE: Stock increase from supplier purchases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SALE: Stock decrease from customer sales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RETURN: Stock return from customers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ADJUSTMENT: Manual inventory adjustments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INSTALLATION: Stock used in installation work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SCRAP: Damaged or obsolete items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Financial Tracking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286000" cy="731520"/>
          </a:xfrm>
          <a:prstGeom prst="rect">
            <a:avLst/>
          </a:prstGeom>
          <a:solidFill>
            <a:srgbClr val="FFC7CE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0" y="1371600"/>
            <a:ext cx="2286000" cy="731520"/>
          </a:xfrm>
          <a:prstGeom prst="rect">
            <a:avLst/>
          </a:prstGeom>
          <a:solidFill>
            <a:srgbClr val="FFC7CE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1371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2286000" cy="731520"/>
          </a:xfrm>
          <a:prstGeom prst="rect">
            <a:avLst/>
          </a:prstGeom>
          <a:solidFill>
            <a:srgbClr val="92D05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603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2560320"/>
            <a:ext cx="2286000" cy="731520"/>
          </a:xfrm>
          <a:prstGeom prst="rect">
            <a:avLst/>
          </a:prstGeom>
          <a:solidFill>
            <a:srgbClr val="92D05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25603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1371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Status Tracking: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PENDING: No payment received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PARTIAL: Partial payment received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2468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PAID: Full payment received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2788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OVERDUE: Payment past due date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3474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Modes Supported: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3931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CASH, CARD, UPI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0" y="4251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BANK Transfer, CHEQUE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CREDIT (On Account)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4892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ONLINE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&amp; Warranty Management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743200" cy="1371600"/>
          </a:xfrm>
          <a:prstGeom prst="rect">
            <a:avLst/>
          </a:prstGeom>
          <a:solidFill>
            <a:srgbClr val="ED7D31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TICKETS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→ IN_PROGRESS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RESOLVED → CLOSED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Levels: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LOW/MEDIUM/HIGH/URGENT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840480" y="1371600"/>
            <a:ext cx="2743200" cy="1371600"/>
          </a:xfrm>
          <a:prstGeom prst="rect">
            <a:avLst/>
          </a:prstGeom>
          <a:solidFill>
            <a:srgbClr val="70AD47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0" y="1371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 MASTER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ACTIVE → EXPIRED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CLAIMED → VOID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Serial numbers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Coverage type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Warranty dates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223760" y="1371600"/>
            <a:ext cx="2743200" cy="1371600"/>
          </a:xfrm>
          <a:prstGeom prst="rect">
            <a:avLst/>
          </a:prstGeom>
          <a:solidFill>
            <a:srgbClr val="4472C4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0" y="1371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Service Tickets ↔ Customers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Service Tickets ↔ Products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Warranty ↔ Sales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Warranty ↔ Products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Assignments ↔ Employees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Workflow: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4747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Customer raises SERVICE_TICKET with complaint details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794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Ticket assigned to EMPLOYEE with priority level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4114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Employee updates status and adds resolution notes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44348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WARRANTY_MASTER tracks product coverage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Service history maintained for tracking repeat issues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&amp; Constraints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5303520" cy="2286000"/>
          </a:xfrm>
          <a:prstGeom prst="rect">
            <a:avLst/>
          </a:prstGeom>
          <a:solidFill>
            <a:srgbClr val="92D05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280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Constraints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Prices ≥ 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Quantities &gt; 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Tax % 0-100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Stock non-negative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09360" y="1188720"/>
            <a:ext cx="5303520" cy="2286000"/>
          </a:xfrm>
          <a:prstGeom prst="rect">
            <a:avLst/>
          </a:prstGeom>
          <a:solidFill>
            <a:srgbClr val="4472C4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Constraints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173736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 codes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0" y="205740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Invoice numbers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0" y="237744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 IDs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26974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Usernames/Emails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5303520" cy="2286000"/>
          </a:xfrm>
          <a:prstGeom prst="rect">
            <a:avLst/>
          </a:prstGeom>
          <a:solidFill>
            <a:srgbClr val="ED7D31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40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Constraints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2976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Referential integrity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461772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Cascading deletes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493776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consistency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525780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Relationship validation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3749040"/>
            <a:ext cx="5303520" cy="2286000"/>
          </a:xfrm>
          <a:prstGeom prst="rect">
            <a:avLst/>
          </a:prstGeom>
          <a:solidFill>
            <a:srgbClr val="FFC7CE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840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Constraints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42976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values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0" y="461772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Payment modes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0" y="493776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 types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0" y="525780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Priority levels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 &amp; Indexing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Strategy: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Primary keys on all 22 tables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0" y="14630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Foreign key indexes for relationships (50+ indexes)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Status/State columns indexed for fast filtering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0" y="17830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Date columns indexed for range queries and reporting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Composite indexes for common filter combinations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0" y="21031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Search columns (name, code) indexed for LIKE queries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Selective indexes to avoid write penalties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0" y="24231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Indexes: 80+ optimized for query performance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solidFill>
            <a:srgbClr val="D9E8F5"/>
          </a:solidFill>
          <a:ln w="25400">
            <a:solidFill>
              <a:srgbClr val="2F54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2976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Metrics: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663440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Query response time: &lt; 200ms for most operations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4937760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Connection pooling: Configured for concurrent users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5212080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Batch operations: Support for bulk import/export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5486400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Caching strategy: Master data cached, Reports cached with TTL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5760720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Scalability: Ready for multi-warehouse expansion (v2.0)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Audit Trail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303520" cy="3200400"/>
          </a:xfrm>
          <a:prstGeom prst="rect">
            <a:avLst/>
          </a:prstGeom>
          <a:solidFill>
            <a:srgbClr val="FFC7CE"/>
          </a:solidFill>
          <a:ln w="25400">
            <a:solidFill>
              <a:srgbClr val="2F54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Measures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RBAC - Role-based access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Password hashing (bcrypt)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JWT token authentication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Prepared statements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Input validation &amp; sanitization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TLS/HTTPS encryption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Account lockout mechanism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8404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Audit logging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1005840"/>
            <a:ext cx="5303520" cy="3200400"/>
          </a:xfrm>
          <a:prstGeom prst="rect">
            <a:avLst/>
          </a:prstGeom>
          <a:solidFill>
            <a:srgbClr val="D9E8F5"/>
          </a:solidFill>
          <a:ln w="25400">
            <a:solidFill>
              <a:srgbClr val="2F54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1887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(AUDIT_LOG Table)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0" y="16002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User attribution for changes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75120" y="1920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Timestamp on all transactions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75120" y="2240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Before/after values stored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75120" y="25603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IP address and browser info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75120" y="2880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Change reason tracking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75120" y="32004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Module and action logged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75120" y="35204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Immutable ledger format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75120" y="38404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Compliance ready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54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TCV CORE - Database Summary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22 Normalized Tables | 50+ Relationships | 80+ Indexes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2057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MySQL 8.0+ | InnoDB Engine | UTF8MB4 Encoding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3NF Normalization | ACID Compliance | Data Integrity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Comprehensive Audit Trail | Security Measures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High-Performance Queries | Scalable Architecture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Support for Purchase, Sales, Service &amp; Warranty Workflows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Financial Tracking | Payment Management | Stock Ledger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526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Role-Based Access Control | Multi-Level Approvals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Production Deployment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2026-06-07T14:53:39Z</dcterms:created>
  <dcterms:modified xsi:type="dcterms:W3CDTF">2026-06-07T14:53:39Z</dcterms:modified>
</cp:coreProperties>
</file>